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8" d="100"/>
          <a:sy n="138" d="100"/>
        </p:scale>
        <p:origin x="184" y="6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577431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B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9C84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73152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DeepPark v2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731520" y="173736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 Öğrenme Tabanlı Akıllı Otopark Alanı Tespiti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31520" y="2606040"/>
            <a:ext cx="2743200" cy="36576"/>
          </a:xfrm>
          <a:prstGeom prst="rect">
            <a:avLst/>
          </a:prstGeom>
          <a:solidFill>
            <a:srgbClr val="F9C846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283464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FET306 Uygulamalı Yapay Sinir Ağları — Arasınav Projesi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338328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Abdulkadir Gedik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" y="384048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İstanbul Topkapı Üniversitesi — Yazılım Mühendisliği Bölümü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3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Problem ve Motivasyon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482803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DeepPark v2 — Abdulkadir Gedik — İstanbul Topkapı Üniversitesi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8229600" y="482803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280160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280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05840" y="12801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Şehirlerde artan araç sayısı ve sınırlı otopark kapasitesi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2103120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21031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05840" y="21031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Sürücülerin boş park alanı araması → trafik yoğunluğu, yakıt israfı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2926080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29260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005840" y="29260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Akıllı otopark sistemlerine artan ihtiyaç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029200" y="1188720"/>
            <a:ext cx="3749040" cy="3200400"/>
          </a:xfrm>
          <a:prstGeom prst="roundRect">
            <a:avLst>
              <a:gd name="adj" fmla="val 4286"/>
            </a:avLst>
          </a:prstGeom>
          <a:solidFill>
            <a:srgbClr val="1E2761"/>
          </a:solidFill>
          <a:ln/>
        </p:spPr>
      </p:sp>
      <p:sp>
        <p:nvSpPr>
          <p:cNvPr id="17" name="Text 15"/>
          <p:cNvSpPr/>
          <p:nvPr/>
        </p:nvSpPr>
        <p:spPr>
          <a:xfrm>
            <a:off x="5303520" y="137160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9C84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ÇÖZÜM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5303520" y="2011680"/>
            <a:ext cx="32004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Güvenlik kamerası görüntülerinden otomatik boş/dolu alan tespiti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400" b="1" dirty="0">
                <a:solidFill>
                  <a:srgbClr val="F9C8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Derin Öğrenme + Transfer Öğrenme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ile yüksek doğruluklu sınıflandırma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3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Veri Seti: PKLot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482803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DeepPark v2 — Abdulkadir Gedik — İstanbul Topkapı Üniversitesi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8229600" y="482803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188720"/>
            <a:ext cx="256032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57200" y="123444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32,327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457200" y="187452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Toplam — görüntü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91840" y="1188720"/>
            <a:ext cx="256032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291840" y="123444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14,032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3291840" y="187452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Empty — boş alan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126480" y="1188720"/>
            <a:ext cx="256032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126480" y="123444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18,295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6126480" y="187452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Occupied — dolu alan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48640" y="2651760"/>
            <a:ext cx="8046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Görüntü boyutu: 224×224 piksel, ImageNet normalizasyonu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Stratified split: %70 Train (22,628) / %15 Val (4,849) / %15 Test (4,850)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augmentation: Flip, Rotation(±15°), ColorJitter, Affine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3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Model Mimarileri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482803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DeepPark v2 — Abdulkadir Gedik — İstanbul Topkapı Üniversitesi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8229600" y="482803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20040" y="1188720"/>
            <a:ext cx="2697480" cy="3200400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1188720"/>
            <a:ext cx="2697480" cy="548640"/>
          </a:xfrm>
          <a:prstGeom prst="rect">
            <a:avLst/>
          </a:prstGeom>
          <a:solidFill>
            <a:srgbClr val="2196F3"/>
          </a:solidFill>
          <a:ln/>
        </p:spPr>
      </p:sp>
      <p:sp>
        <p:nvSpPr>
          <p:cNvPr id="9" name="Text 7"/>
          <p:cNvSpPr/>
          <p:nvPr/>
        </p:nvSpPr>
        <p:spPr>
          <a:xfrm>
            <a:off x="320040" y="123444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MobileNetV3-Large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20040" y="1874520"/>
            <a:ext cx="2697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2196F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4.2M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320040" y="233172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parametre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02920" y="2743200"/>
            <a:ext cx="2331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 cihazlar için optimize</a:t>
            </a:r>
            <a:endParaRPr lang="en-US" sz="11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 ile tasarlanmış</a:t>
            </a:r>
            <a:endParaRPr lang="en-US" sz="11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Hızlı çıkarım süresi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46120" y="1188720"/>
            <a:ext cx="2697480" cy="3200400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46120" y="1188720"/>
            <a:ext cx="2697480" cy="548640"/>
          </a:xfrm>
          <a:prstGeom prst="rect">
            <a:avLst/>
          </a:prstGeom>
          <a:solidFill>
            <a:srgbClr val="FF5722"/>
          </a:solidFill>
          <a:ln/>
        </p:spPr>
      </p:sp>
      <p:sp>
        <p:nvSpPr>
          <p:cNvPr id="15" name="Text 13"/>
          <p:cNvSpPr/>
          <p:nvPr/>
        </p:nvSpPr>
        <p:spPr>
          <a:xfrm>
            <a:off x="3246120" y="123444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ResNet18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3246120" y="1874520"/>
            <a:ext cx="2697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572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11.2M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3246120" y="233172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parametre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429000" y="2743200"/>
            <a:ext cx="2331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 connection yapısı</a:t>
            </a:r>
            <a:endParaRPr lang="en-US" sz="11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Endüstri standardı</a:t>
            </a:r>
            <a:endParaRPr lang="en-US" sz="11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Derin ağ eğitimi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172200" y="1188720"/>
            <a:ext cx="2697480" cy="3200400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172200" y="1188720"/>
            <a:ext cx="2697480" cy="548640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21" name="Text 19"/>
          <p:cNvSpPr/>
          <p:nvPr/>
        </p:nvSpPr>
        <p:spPr>
          <a:xfrm>
            <a:off x="6172200" y="123444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EfficientNet-B0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172200" y="1874520"/>
            <a:ext cx="2697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4CAF5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4.0M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6172200" y="233172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parametre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355080" y="2743200"/>
            <a:ext cx="2331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Compound scaling</a:t>
            </a:r>
            <a:endParaRPr lang="en-US" sz="11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Genislik+Derinlik+Çözünürlük</a:t>
            </a:r>
            <a:endParaRPr lang="en-US" sz="11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küçük boyut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3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İki Aşamalı Eğitim Stratejisi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482803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DeepPark v2 — Abdulkadir Gedik — İstanbul Topkapı Üniversitesi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8229600" y="482803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65760" y="1188720"/>
            <a:ext cx="4023360" cy="256032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1188720"/>
            <a:ext cx="4023360" cy="502920"/>
          </a:xfrm>
          <a:prstGeom prst="rect">
            <a:avLst/>
          </a:prstGeom>
          <a:solidFill>
            <a:srgbClr val="2196F3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216152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 err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Aşama</a:t>
            </a: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1: Backbone Dondurma (2 Epoch)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1828800"/>
            <a:ext cx="35661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Önceden eğitilmiş katmanlar donduruldu</a:t>
            </a:r>
            <a:endParaRPr lang="en-US" sz="12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Sadece sınıflandırıcı başı eğitildi</a:t>
            </a:r>
            <a:endParaRPr lang="en-US" sz="12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Yüksek öğrenme hızı</a:t>
            </a:r>
            <a:endParaRPr lang="en-US" sz="12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Amaç: Sınıflandırıcının öğrenilmiş özniteliklere uyumu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206240" y="20116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3600" dirty="0"/>
          </a:p>
        </p:txBody>
      </p:sp>
      <p:sp>
        <p:nvSpPr>
          <p:cNvPr id="12" name="Shape 10"/>
          <p:cNvSpPr/>
          <p:nvPr/>
        </p:nvSpPr>
        <p:spPr>
          <a:xfrm>
            <a:off x="4754880" y="1188720"/>
            <a:ext cx="4023360" cy="256032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54880" y="1188720"/>
            <a:ext cx="4023360" cy="502920"/>
          </a:xfrm>
          <a:prstGeom prst="rect">
            <a:avLst/>
          </a:prstGeom>
          <a:solidFill>
            <a:srgbClr val="FF5722"/>
          </a:solidFill>
          <a:ln/>
        </p:spPr>
      </p:sp>
      <p:sp>
        <p:nvSpPr>
          <p:cNvPr id="14" name="Text 12"/>
          <p:cNvSpPr/>
          <p:nvPr/>
        </p:nvSpPr>
        <p:spPr>
          <a:xfrm>
            <a:off x="4846320" y="1216152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Aşama </a:t>
            </a: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2: Fine-Tuning (8 Epoch’a kadar)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029200" y="1828800"/>
            <a:ext cx="35661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Tüm katmanlar açıldı</a:t>
            </a:r>
            <a:endParaRPr lang="en-US" sz="12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10x düşürülmüş öğrenme hızı</a:t>
            </a:r>
            <a:endParaRPr lang="en-US" sz="12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StepLR Scheduler (step=3, γ=0.1)</a:t>
            </a:r>
            <a:endParaRPr lang="en-US" sz="12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Stopping (patience=3)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65760" y="3931920"/>
            <a:ext cx="8412480" cy="548640"/>
          </a:xfrm>
          <a:prstGeom prst="roundRect">
            <a:avLst>
              <a:gd name="adj" fmla="val 13333"/>
            </a:avLst>
          </a:prstGeom>
          <a:solidFill>
            <a:srgbClr val="1E2761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395935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Optimizer: Adam   |   Loss: CrossEntropyLoss   |   Batch: 32   |   Seed: 42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3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Test Sonuçları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482803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DeepPark v2 — Abdulkadir Gedik — İstanbul Topkapı Üniversitesi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8229600" y="482803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188720"/>
            <a:ext cx="8229600" cy="137160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457200" y="2834640"/>
            <a:ext cx="260604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457200" y="288036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572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ResNet18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457200" y="324612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%100.00</a:t>
            </a:r>
            <a:endParaRPr lang="en-US" sz="2800" dirty="0"/>
          </a:p>
        </p:txBody>
      </p:sp>
      <p:sp>
        <p:nvSpPr>
          <p:cNvPr id="11" name="Text 8"/>
          <p:cNvSpPr/>
          <p:nvPr/>
        </p:nvSpPr>
        <p:spPr>
          <a:xfrm>
            <a:off x="457200" y="374904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hata / 4,850 test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3291840" y="2834640"/>
            <a:ext cx="260604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3291840" y="288036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196F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MobileNetV3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3291840" y="324612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%99.98</a:t>
            </a:r>
            <a:endParaRPr lang="en-US" sz="2800" dirty="0"/>
          </a:p>
        </p:txBody>
      </p:sp>
      <p:sp>
        <p:nvSpPr>
          <p:cNvPr id="15" name="Text 12"/>
          <p:cNvSpPr/>
          <p:nvPr/>
        </p:nvSpPr>
        <p:spPr>
          <a:xfrm>
            <a:off x="3291840" y="374904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hata / 4,850 test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6126480" y="2834640"/>
            <a:ext cx="260604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6126480" y="288036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CAF5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EfficientNetB0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6126480" y="324612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%99.96</a:t>
            </a:r>
            <a:endParaRPr lang="en-US" sz="2800" dirty="0"/>
          </a:p>
        </p:txBody>
      </p:sp>
      <p:sp>
        <p:nvSpPr>
          <p:cNvPr id="19" name="Text 16"/>
          <p:cNvSpPr/>
          <p:nvPr/>
        </p:nvSpPr>
        <p:spPr>
          <a:xfrm>
            <a:off x="6126480" y="374904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hata / 4,850 test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2926080" y="4297680"/>
            <a:ext cx="3291840" cy="365760"/>
          </a:xfrm>
          <a:prstGeom prst="roundRect">
            <a:avLst>
              <a:gd name="adj" fmla="val 20000"/>
            </a:avLst>
          </a:prstGeom>
          <a:solidFill>
            <a:srgbClr val="1E2761"/>
          </a:solidFill>
          <a:ln/>
        </p:spPr>
      </p:sp>
      <p:sp>
        <p:nvSpPr>
          <p:cNvPr id="21" name="Text 18"/>
          <p:cNvSpPr/>
          <p:nvPr/>
        </p:nvSpPr>
        <p:spPr>
          <a:xfrm>
            <a:off x="2926080" y="429768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9C8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Tüm modeller ROC AUC = 1.0000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3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Confusion Matrix Sonuçları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482803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DeepPark v2 — Abdulkadir Gedik — İstanbul Topkapı Üniversitesi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8229600" y="482803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" y="1097280"/>
            <a:ext cx="2926080" cy="2377440"/>
          </a:xfrm>
          <a:prstGeom prst="rect">
            <a:avLst/>
          </a:prstGeom>
        </p:spPr>
      </p:pic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08960" y="1097280"/>
            <a:ext cx="2926080" cy="2377440"/>
          </a:xfrm>
          <a:prstGeom prst="rect">
            <a:avLst/>
          </a:prstGeom>
        </p:spPr>
      </p:pic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80760" y="1097280"/>
            <a:ext cx="2926080" cy="237744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37160" y="356616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19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hata</a:t>
            </a:r>
            <a:endParaRPr lang="en-US" sz="1200" dirty="0"/>
          </a:p>
        </p:txBody>
      </p:sp>
      <p:sp>
        <p:nvSpPr>
          <p:cNvPr id="11" name="Text 6"/>
          <p:cNvSpPr/>
          <p:nvPr/>
        </p:nvSpPr>
        <p:spPr>
          <a:xfrm>
            <a:off x="3108960" y="356616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hata ✔</a:t>
            </a:r>
            <a:endParaRPr lang="en-US" sz="1200" dirty="0"/>
          </a:p>
        </p:txBody>
      </p:sp>
      <p:sp>
        <p:nvSpPr>
          <p:cNvPr id="12" name="Text 7"/>
          <p:cNvSpPr/>
          <p:nvPr/>
        </p:nvSpPr>
        <p:spPr>
          <a:xfrm>
            <a:off x="6080760" y="356616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hata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3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Eğitim Süreci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482803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DeepPark v2 — Abdulkadir Gedik — İstanbul Topkapı Üniversitesi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8229600" y="482803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097280"/>
            <a:ext cx="8595360" cy="237744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457200" y="3657600"/>
            <a:ext cx="137160" cy="137160"/>
          </a:xfrm>
          <a:prstGeom prst="ellipse">
            <a:avLst/>
          </a:prstGeom>
          <a:solidFill>
            <a:srgbClr val="2196F3"/>
          </a:solidFill>
          <a:ln/>
        </p:spPr>
      </p:sp>
      <p:sp>
        <p:nvSpPr>
          <p:cNvPr id="9" name="Text 6"/>
          <p:cNvSpPr/>
          <p:nvPr/>
        </p:nvSpPr>
        <p:spPr>
          <a:xfrm>
            <a:off x="731520" y="359359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MobileNetV3 en hızlı yakınsama (7 epoch, 23.7 dk)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57200" y="4023360"/>
            <a:ext cx="137160" cy="137160"/>
          </a:xfrm>
          <a:prstGeom prst="ellipse">
            <a:avLst/>
          </a:prstGeom>
          <a:solidFill>
            <a:srgbClr val="FF5722"/>
          </a:solidFill>
          <a:ln/>
        </p:spPr>
      </p:sp>
      <p:sp>
        <p:nvSpPr>
          <p:cNvPr id="11" name="Text 8"/>
          <p:cNvSpPr/>
          <p:nvPr/>
        </p:nvSpPr>
        <p:spPr>
          <a:xfrm>
            <a:off x="731520" y="39593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ResNet18 frozen aşamada düşük (%71-77), fine-tune ile en yüksek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57200" y="4389120"/>
            <a:ext cx="137160" cy="137160"/>
          </a:xfrm>
          <a:prstGeom prst="ellipse">
            <a:avLst/>
          </a:prstGeom>
          <a:solidFill>
            <a:srgbClr val="4CAF50"/>
          </a:solidFill>
          <a:ln/>
        </p:spPr>
      </p:sp>
      <p:sp>
        <p:nvSpPr>
          <p:cNvPr id="13" name="Text 10"/>
          <p:cNvSpPr/>
          <p:nvPr/>
        </p:nvSpPr>
        <p:spPr>
          <a:xfrm>
            <a:off x="731520" y="432511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stopping 3 modelde de devreye girdi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3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ROC Eğrisi Karşılaştırması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482803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DeepPark v2 — Abdulkadir Gedik — İstanbul Topkapı Üniversitesi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8229600" y="482803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0" y="1051560"/>
            <a:ext cx="4114800" cy="320040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400800" y="1828800"/>
            <a:ext cx="2377440" cy="1645920"/>
          </a:xfrm>
          <a:prstGeom prst="roundRect">
            <a:avLst>
              <a:gd name="adj" fmla="val 5556"/>
            </a:avLst>
          </a:prstGeom>
          <a:solidFill>
            <a:srgbClr val="1E2761"/>
          </a:solidFill>
          <a:ln/>
        </p:spPr>
      </p:sp>
      <p:sp>
        <p:nvSpPr>
          <p:cNvPr id="9" name="Text 6"/>
          <p:cNvSpPr/>
          <p:nvPr/>
        </p:nvSpPr>
        <p:spPr>
          <a:xfrm>
            <a:off x="6400800" y="19202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6400800" y="228600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9C84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1.0000</a:t>
            </a:r>
            <a:endParaRPr lang="en-US" sz="3600" dirty="0"/>
          </a:p>
        </p:txBody>
      </p:sp>
      <p:sp>
        <p:nvSpPr>
          <p:cNvPr id="11" name="Text 8"/>
          <p:cNvSpPr/>
          <p:nvPr/>
        </p:nvSpPr>
        <p:spPr>
          <a:xfrm>
            <a:off x="6400800" y="29260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Tüm Modeller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3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Canlı Demo — Model Tahminleri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482803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DeepPark v2 — Abdulkadir Gedik — İstanbul Topkapı Üniversitesi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8229600" y="482803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051560"/>
            <a:ext cx="8229600" cy="356616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3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Sonuç ve Değerlendirme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482803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DeepPark v2 — Abdulkadir Gedik — İstanbul Topkapı Üniversitesi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8229600" y="482803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20040" y="1188720"/>
            <a:ext cx="269748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1188720"/>
            <a:ext cx="73152" cy="1463040"/>
          </a:xfrm>
          <a:prstGeom prst="rect">
            <a:avLst/>
          </a:prstGeom>
          <a:solidFill>
            <a:srgbClr val="FF5722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123444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572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ResNet18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02920" y="160020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%100.00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502920" y="210312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yüksek doğruluk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46120" y="1188720"/>
            <a:ext cx="269748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46120" y="1188720"/>
            <a:ext cx="73152" cy="1463040"/>
          </a:xfrm>
          <a:prstGeom prst="rect">
            <a:avLst/>
          </a:prstGeom>
          <a:solidFill>
            <a:srgbClr val="2196F3"/>
          </a:solidFill>
          <a:ln/>
        </p:spPr>
      </p:sp>
      <p:sp>
        <p:nvSpPr>
          <p:cNvPr id="14" name="Text 12"/>
          <p:cNvSpPr/>
          <p:nvPr/>
        </p:nvSpPr>
        <p:spPr>
          <a:xfrm>
            <a:off x="3429000" y="123444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196F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MobileNetV3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429000" y="160020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23.7 dk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3429000" y="210312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hızlı eğitim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172200" y="1188720"/>
            <a:ext cx="269748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172200" y="1188720"/>
            <a:ext cx="73152" cy="1463040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19" name="Text 17"/>
          <p:cNvSpPr/>
          <p:nvPr/>
        </p:nvSpPr>
        <p:spPr>
          <a:xfrm>
            <a:off x="6355080" y="123444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CAF5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EfficientNet-B0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355080" y="160020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15.6 MB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6355080" y="210312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küçük boyut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48640" y="2926080"/>
            <a:ext cx="80467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İki aşamalı eğitim stratejisi overfitting’i önlemede etkili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 öğrenme binary sınıflandırmada mükemmel performans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Uygulama senaryosuna göre farklı model tercihi yapılabilir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Gelecek: Gerçek zamanlı video, çoklu kamera, hava koşullarına dayanıklılık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41B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9C84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91440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Teşekkürler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731520" y="182880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F9C8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Sorularınız?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743200"/>
            <a:ext cx="2286000" cy="36576"/>
          </a:xfrm>
          <a:prstGeom prst="rect">
            <a:avLst/>
          </a:prstGeom>
          <a:solidFill>
            <a:srgbClr val="F9C846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301752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Abdulkadir Gedik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347472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İstanbul Topkapı Üniversitesi — Yazılım Mühendisliği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384048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FET306 Uygulamalı Yapay Sinir Ağları — Arasınav Projesi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138</TotalTime>
  <Words>524</Words>
  <Application>Microsoft Macintosh PowerPoint</Application>
  <PresentationFormat>Ekran Gösterisi (16:9)</PresentationFormat>
  <Paragraphs>134</Paragraphs>
  <Slides>12</Slides>
  <Notes>12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3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12</vt:i4>
      </vt:variant>
    </vt:vector>
  </HeadingPairs>
  <TitlesOfParts>
    <vt:vector size="16" baseType="lpstr">
      <vt:lpstr>Arial</vt:lpstr>
      <vt:lpstr>Calibri</vt:lpstr>
      <vt:lpstr>Trebuchet MS</vt:lpstr>
      <vt:lpstr>Office Theme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DeepPark v2 - Akıllı Otopark Algılama Sistemi</dc:title>
  <dc:subject>PptxGenJS Presentation</dc:subject>
  <dc:creator>Abdulkadir Gedik</dc:creator>
  <cp:lastModifiedBy>Kadir Gedik</cp:lastModifiedBy>
  <cp:revision>2</cp:revision>
  <dcterms:created xsi:type="dcterms:W3CDTF">2026-04-13T15:17:05Z</dcterms:created>
  <dcterms:modified xsi:type="dcterms:W3CDTF">2026-04-13T17:38:55Z</dcterms:modified>
</cp:coreProperties>
</file>